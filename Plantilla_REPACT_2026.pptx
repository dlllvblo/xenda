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3" r:id="rId3"/>
    <p:sldId id="265" r:id="rId4"/>
    <p:sldId id="266" r:id="rId5"/>
  </p:sldIdLst>
  <p:sldSz cx="12192000" cy="6858000"/>
  <p:notesSz cx="6858000" cy="9144000"/>
  <p:embeddedFontLst>
    <p:embeddedFont>
      <p:font typeface="Noto Sans" panose="020B0502040504020204" pitchFamily="34" charset="0"/>
      <p:regular r:id="rId7"/>
      <p:bold r:id="rId8"/>
      <p:italic r:id="rId9"/>
      <p:boldItalic r:id="rId10"/>
    </p:embeddedFont>
    <p:embeddedFont>
      <p:font typeface="Noto Sans Medium" panose="020B0604020202020204" charset="0"/>
      <p:regular r:id="rId11"/>
      <p:italic r:id="rId12"/>
    </p:embeddedFont>
    <p:embeddedFont>
      <p:font typeface="Noto Sans SemiBold" panose="020B0604020202020204" charset="0"/>
      <p:bold r:id="rId13"/>
      <p:boldItalic r:id="rId14"/>
    </p:embeddedFont>
    <p:embeddedFont>
      <p:font typeface="Patria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MB3COELHP4ShDuNy2l70feb5+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C4F"/>
    <a:srgbClr val="E7D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31280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4E575E-87DB-D6EE-5A68-14CB9860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>
            <a:extLst>
              <a:ext uri="{FF2B5EF4-FFF2-40B4-BE49-F238E27FC236}">
                <a16:creationId xmlns:a16="http://schemas.microsoft.com/office/drawing/2014/main" id="{DECAEFF9-974D-D432-7C36-9F13D4897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7:notes">
            <a:extLst>
              <a:ext uri="{FF2B5EF4-FFF2-40B4-BE49-F238E27FC236}">
                <a16:creationId xmlns:a16="http://schemas.microsoft.com/office/drawing/2014/main" id="{79A55B15-2933-7F44-C491-9DABD093B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6229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8EDC40C5-FF8F-7127-8B65-0AA1FD98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>
            <a:extLst>
              <a:ext uri="{FF2B5EF4-FFF2-40B4-BE49-F238E27FC236}">
                <a16:creationId xmlns:a16="http://schemas.microsoft.com/office/drawing/2014/main" id="{E75367D8-B58C-E7DB-12CD-45975F4D2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7:notes">
            <a:extLst>
              <a:ext uri="{FF2B5EF4-FFF2-40B4-BE49-F238E27FC236}">
                <a16:creationId xmlns:a16="http://schemas.microsoft.com/office/drawing/2014/main" id="{C99373BD-2819-073F-3654-8C8A30F5F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002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4E575E-87DB-D6EE-5A68-14CB9860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>
            <a:extLst>
              <a:ext uri="{FF2B5EF4-FFF2-40B4-BE49-F238E27FC236}">
                <a16:creationId xmlns:a16="http://schemas.microsoft.com/office/drawing/2014/main" id="{DECAEFF9-974D-D432-7C36-9F13D4897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7:notes">
            <a:extLst>
              <a:ext uri="{FF2B5EF4-FFF2-40B4-BE49-F238E27FC236}">
                <a16:creationId xmlns:a16="http://schemas.microsoft.com/office/drawing/2014/main" id="{79A55B15-2933-7F44-C491-9DABD093B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17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title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SemiBold"/>
              <a:buNone/>
              <a:defRPr sz="4400" b="1" i="0" u="none" strike="noStrike" cap="none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7D39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7D395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_Diapositiva de texto">
  <p:cSld name="1.1_Diapositiva de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293318" y="251901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4000"/>
              <a:buFont typeface="Noto Sans SemiBold"/>
              <a:buNone/>
              <a:defRPr sz="4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293318" y="1478072"/>
            <a:ext cx="8465671" cy="427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04040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" name="Google Shape;11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11" y="259923"/>
            <a:ext cx="5373768" cy="459642"/>
          </a:xfrm>
          <a:prstGeom prst="rect">
            <a:avLst/>
          </a:prstGeom>
        </p:spPr>
      </p:pic>
      <p:sp>
        <p:nvSpPr>
          <p:cNvPr id="2" name="Google Shape;75;p1">
            <a:extLst>
              <a:ext uri="{FF2B5EF4-FFF2-40B4-BE49-F238E27FC236}">
                <a16:creationId xmlns:a16="http://schemas.microsoft.com/office/drawing/2014/main" id="{861C1E17-1839-D3D6-7BD8-EDD92537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6246" y="2645678"/>
            <a:ext cx="8822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MX" dirty="0">
                <a:solidFill>
                  <a:srgbClr val="E7D395"/>
                </a:solidFill>
                <a:latin typeface="Patria" pitchFamily="50" charset="0"/>
              </a:rPr>
              <a:t>Reporte de actividades</a:t>
            </a:r>
            <a:endParaRPr dirty="0">
              <a:solidFill>
                <a:srgbClr val="E7D395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5D77535-0760-2DB9-4A3B-8186541B96D5}"/>
              </a:ext>
            </a:extLst>
          </p:cNvPr>
          <p:cNvSpPr txBox="1">
            <a:spLocks/>
          </p:cNvSpPr>
          <p:nvPr/>
        </p:nvSpPr>
        <p:spPr>
          <a:xfrm>
            <a:off x="199081" y="1091209"/>
            <a:ext cx="11785600" cy="914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1800" dirty="0">
                <a:solidFill>
                  <a:srgbClr val="DDC9A3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Dirección General de Catastro y Asistencia Técnica</a:t>
            </a:r>
          </a:p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1800" dirty="0">
                <a:solidFill>
                  <a:srgbClr val="DDC9A3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Dirección </a:t>
            </a:r>
            <a:r>
              <a:rPr lang="es-MX" sz="1800" dirty="0">
                <a:solidFill>
                  <a:srgbClr val="DDC9A3"/>
                </a:solidFill>
                <a:latin typeface="Patria" pitchFamily="50" charset="0"/>
                <a:sym typeface="Noto Sans Bold"/>
              </a:rPr>
              <a:t>Técnica</a:t>
            </a:r>
            <a:br>
              <a:rPr lang="es-MX" sz="1800" dirty="0">
                <a:solidFill>
                  <a:srgbClr val="EDD899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</a:br>
            <a:endParaRPr lang="es-MX" sz="1800" dirty="0">
              <a:solidFill>
                <a:srgbClr val="EDD899"/>
              </a:solidFill>
              <a:latin typeface="Patria" pitchFamily="50" charset="0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" name="Google Shape;76;p1">
            <a:extLst>
              <a:ext uri="{FF2B5EF4-FFF2-40B4-BE49-F238E27FC236}">
                <a16:creationId xmlns:a16="http://schemas.microsoft.com/office/drawing/2014/main" id="{C5C41085-78F9-0959-EA0E-D39115A6C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D395"/>
              </a:buClr>
              <a:buSzPts val="2000"/>
              <a:buNone/>
            </a:pPr>
            <a:r>
              <a:rPr lang="es-MX" dirty="0"/>
              <a:t>Proyectos Ferroviarios – (periodo mes)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42B7AAE-03CA-0B3E-9A00-9071D154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32DC649-9A7B-027E-23E2-2B931286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426" y="269199"/>
            <a:ext cx="1392236" cy="4183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C3C42B-6377-E673-8A98-7497AD286159}"/>
              </a:ext>
            </a:extLst>
          </p:cNvPr>
          <p:cNvSpPr txBox="1">
            <a:spLocks/>
          </p:cNvSpPr>
          <p:nvPr/>
        </p:nvSpPr>
        <p:spPr>
          <a:xfrm>
            <a:off x="308809" y="208989"/>
            <a:ext cx="6022559" cy="1154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fontScale="92500"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2800" dirty="0">
                <a:solidFill>
                  <a:srgbClr val="BC955C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Proyecto ferroviario </a:t>
            </a:r>
          </a:p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2800" b="1" dirty="0">
                <a:solidFill>
                  <a:srgbClr val="691C32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COLOCAR TRAMO Y/O DIRECCIÓN</a:t>
            </a:r>
            <a:endParaRPr lang="es-MX" sz="1900" b="1" dirty="0">
              <a:solidFill>
                <a:srgbClr val="691C32"/>
              </a:solidFill>
              <a:latin typeface="Patria" pitchFamily="50" charset="0"/>
              <a:ea typeface="Noto Sans Bold"/>
              <a:cs typeface="Noto Sans Bold"/>
              <a:sym typeface="Noto Sans Bold"/>
            </a:endParaRPr>
          </a:p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2100" dirty="0">
                <a:solidFill>
                  <a:srgbClr val="10312B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Liberación del derecho de vía </a:t>
            </a:r>
            <a:r>
              <a:rPr lang="es-MX" sz="2100" dirty="0">
                <a:solidFill>
                  <a:srgbClr val="691C32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(Propiedad Social)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9D6664B-EC42-1747-9674-C826FD2FE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23147"/>
              </p:ext>
            </p:extLst>
          </p:nvPr>
        </p:nvGraphicFramePr>
        <p:xfrm>
          <a:off x="904461" y="1388557"/>
          <a:ext cx="10139681" cy="973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9681">
                  <a:extLst>
                    <a:ext uri="{9D8B030D-6E8A-4147-A177-3AD203B41FA5}">
                      <a16:colId xmlns:a16="http://schemas.microsoft.com/office/drawing/2014/main" val="849053377"/>
                    </a:ext>
                  </a:extLst>
                </a:gridCol>
              </a:tblGrid>
              <a:tr h="333563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 REALIZADAS</a:t>
                      </a:r>
                      <a:r>
                        <a:rPr lang="es-MX" sz="1400" b="1" baseline="0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EN CAMPO Y/O GABINETE, PROPIEDAD SOCIAL</a:t>
                      </a:r>
                      <a:endParaRPr lang="es-MX" sz="1400" b="1" dirty="0">
                        <a:solidFill>
                          <a:srgbClr val="E7D395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51435" marR="51435" anchor="ctr">
                    <a:solidFill>
                      <a:srgbClr val="245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8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Trabajo de campo: 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152E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Actividades: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Calibri"/>
                      </a:endParaRPr>
                    </a:p>
                  </a:txBody>
                  <a:tcPr marL="16073" marR="1607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2697BFF-BFDA-B92D-042B-9D5AFB62C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3758"/>
              </p:ext>
            </p:extLst>
          </p:nvPr>
        </p:nvGraphicFramePr>
        <p:xfrm>
          <a:off x="895121" y="3661653"/>
          <a:ext cx="10149021" cy="2103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9021">
                  <a:extLst>
                    <a:ext uri="{9D8B030D-6E8A-4147-A177-3AD203B41FA5}">
                      <a16:colId xmlns:a16="http://schemas.microsoft.com/office/drawing/2014/main" val="849053377"/>
                    </a:ext>
                  </a:extLst>
                </a:gridCol>
              </a:tblGrid>
              <a:tr h="285456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 PROGRAMADAS PARA LA QUINCENA DEL</a:t>
                      </a:r>
                      <a:r>
                        <a:rPr lang="es-MX" sz="1400" b="1" baseline="0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16</a:t>
                      </a:r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AL 30 DE</a:t>
                      </a:r>
                      <a:r>
                        <a:rPr lang="es-MX" sz="1400" b="1" baseline="0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MAYO</a:t>
                      </a:r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EN PROPIEDAD SOCIAL</a:t>
                      </a:r>
                    </a:p>
                  </a:txBody>
                  <a:tcPr marL="51435" marR="51435" anchor="ctr">
                    <a:solidFill>
                      <a:srgbClr val="245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88383"/>
                  </a:ext>
                </a:extLst>
              </a:tr>
              <a:tr h="1798371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Trabajo de gabinete:  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152E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152E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Actividades: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Calibri"/>
                      </a:endParaRPr>
                    </a:p>
                  </a:txBody>
                  <a:tcPr marL="16073" marR="1607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47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37EA6DF-5E59-2EB2-17E0-D3BDE242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9E4C9C8-BBB5-AB43-427D-0EBA540FB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426" y="269199"/>
            <a:ext cx="1392236" cy="4183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80C0D6-ADB1-3DDE-9B21-A031609BC5AC}"/>
              </a:ext>
            </a:extLst>
          </p:cNvPr>
          <p:cNvSpPr txBox="1">
            <a:spLocks/>
          </p:cNvSpPr>
          <p:nvPr/>
        </p:nvSpPr>
        <p:spPr>
          <a:xfrm>
            <a:off x="308809" y="208989"/>
            <a:ext cx="6022559" cy="1154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fontScale="92500"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2800" dirty="0">
                <a:solidFill>
                  <a:srgbClr val="BC955C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Proyecto ferroviario </a:t>
            </a:r>
          </a:p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2800" b="1" dirty="0">
                <a:solidFill>
                  <a:srgbClr val="691C32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COLOCAR TRAMO Y/O DIRECCIÓN</a:t>
            </a:r>
            <a:endParaRPr lang="es-MX" sz="1900" b="1" dirty="0">
              <a:solidFill>
                <a:srgbClr val="691C32"/>
              </a:solidFill>
              <a:latin typeface="Patria" pitchFamily="50" charset="0"/>
              <a:ea typeface="Noto Sans Bold"/>
              <a:cs typeface="Noto Sans Bold"/>
              <a:sym typeface="Noto Sans Bold"/>
            </a:endParaRPr>
          </a:p>
          <a:p>
            <a:pPr hangingPunct="1"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lang="es-MX" sz="2100" dirty="0">
                <a:solidFill>
                  <a:srgbClr val="10312B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Liberación del derecho de vía </a:t>
            </a:r>
            <a:r>
              <a:rPr lang="es-MX" sz="2100" dirty="0">
                <a:solidFill>
                  <a:srgbClr val="691C32"/>
                </a:solidFill>
                <a:latin typeface="Patria" pitchFamily="50" charset="0"/>
                <a:ea typeface="Noto Sans Bold"/>
                <a:cs typeface="Noto Sans Bold"/>
                <a:sym typeface="Noto Sans Bold"/>
              </a:rPr>
              <a:t>(Propiedad Social)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52ACE5E-4C8B-21D2-E950-F40687B74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72716"/>
              </p:ext>
            </p:extLst>
          </p:nvPr>
        </p:nvGraphicFramePr>
        <p:xfrm>
          <a:off x="534621" y="1418512"/>
          <a:ext cx="10250936" cy="1475815"/>
        </p:xfrm>
        <a:graphic>
          <a:graphicData uri="http://schemas.openxmlformats.org/drawingml/2006/table">
            <a:tbl>
              <a:tblPr firstRow="1" bandRow="1"/>
              <a:tblGrid>
                <a:gridCol w="500897">
                  <a:extLst>
                    <a:ext uri="{9D8B030D-6E8A-4147-A177-3AD203B41FA5}">
                      <a16:colId xmlns:a16="http://schemas.microsoft.com/office/drawing/2014/main" val="1560570238"/>
                    </a:ext>
                  </a:extLst>
                </a:gridCol>
                <a:gridCol w="1107867">
                  <a:extLst>
                    <a:ext uri="{9D8B030D-6E8A-4147-A177-3AD203B41FA5}">
                      <a16:colId xmlns:a16="http://schemas.microsoft.com/office/drawing/2014/main" val="2015540143"/>
                    </a:ext>
                  </a:extLst>
                </a:gridCol>
                <a:gridCol w="1009950">
                  <a:extLst>
                    <a:ext uri="{9D8B030D-6E8A-4147-A177-3AD203B41FA5}">
                      <a16:colId xmlns:a16="http://schemas.microsoft.com/office/drawing/2014/main" val="4270037878"/>
                    </a:ext>
                  </a:extLst>
                </a:gridCol>
                <a:gridCol w="1220202">
                  <a:extLst>
                    <a:ext uri="{9D8B030D-6E8A-4147-A177-3AD203B41FA5}">
                      <a16:colId xmlns:a16="http://schemas.microsoft.com/office/drawing/2014/main" val="1339587932"/>
                    </a:ext>
                  </a:extLst>
                </a:gridCol>
                <a:gridCol w="846533">
                  <a:extLst>
                    <a:ext uri="{9D8B030D-6E8A-4147-A177-3AD203B41FA5}">
                      <a16:colId xmlns:a16="http://schemas.microsoft.com/office/drawing/2014/main" val="3058361464"/>
                    </a:ext>
                  </a:extLst>
                </a:gridCol>
                <a:gridCol w="5565487">
                  <a:extLst>
                    <a:ext uri="{9D8B030D-6E8A-4147-A177-3AD203B41FA5}">
                      <a16:colId xmlns:a16="http://schemas.microsoft.com/office/drawing/2014/main" val="3754291370"/>
                    </a:ext>
                  </a:extLst>
                </a:gridCol>
              </a:tblGrid>
              <a:tr h="5492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1" i="0" u="none" strike="noStrike" dirty="0">
                          <a:solidFill>
                            <a:srgbClr val="E7D395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</a:t>
                      </a: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1" i="0" u="none" strike="noStrike" dirty="0">
                          <a:solidFill>
                            <a:srgbClr val="E7D395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ENTIDAD FEDERATIVA</a:t>
                      </a: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1" i="0" u="none" strike="noStrike" dirty="0">
                          <a:solidFill>
                            <a:srgbClr val="E7D395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MUNICIPIO</a:t>
                      </a: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1" i="0" u="none" strike="noStrike" dirty="0">
                          <a:solidFill>
                            <a:srgbClr val="E7D395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NÚCLEO AGRARIO</a:t>
                      </a:r>
                      <a:r>
                        <a:rPr lang="es-MX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</a:t>
                      </a: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000" b="1" i="0" u="none" strike="noStrike" dirty="0">
                          <a:solidFill>
                            <a:srgbClr val="E7D395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FRENTE</a:t>
                      </a: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000" b="1" i="0" u="none" strike="noStrike" dirty="0">
                          <a:solidFill>
                            <a:srgbClr val="E7D395"/>
                          </a:solidFill>
                          <a:effectLst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 REALIZADAS EN CAMPO (MEDICIÓN)</a:t>
                      </a:r>
                    </a:p>
                    <a:p>
                      <a:pPr algn="ctr" rtl="0" fontAlgn="ctr"/>
                      <a:endParaRPr lang="es-MX" sz="1000" b="1" i="0" u="none" strike="noStrike" dirty="0">
                        <a:solidFill>
                          <a:srgbClr val="E7D395"/>
                        </a:solidFill>
                        <a:effectLst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27018"/>
                  </a:ext>
                </a:extLst>
              </a:tr>
              <a:tr h="926603">
                <a:tc>
                  <a:txBody>
                    <a:bodyPr/>
                    <a:lstStyle/>
                    <a:p>
                      <a:pPr algn="ctr" fontAlgn="ctr"/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MX" sz="1100" b="1" i="0" u="none" strike="noStrike" dirty="0">
                        <a:solidFill>
                          <a:srgbClr val="691C32"/>
                        </a:solidFill>
                        <a:effectLst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2531" marR="2531" marT="253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kumimoji="0" lang="es-MX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endParaRPr kumimoji="0" lang="es-MX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447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14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42B7AAE-03CA-0B3E-9A00-9071D154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32DC649-9A7B-027E-23E2-2B931286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426" y="269199"/>
            <a:ext cx="1392236" cy="4183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C3C42B-6377-E673-8A98-7497AD286159}"/>
              </a:ext>
            </a:extLst>
          </p:cNvPr>
          <p:cNvSpPr txBox="1">
            <a:spLocks/>
          </p:cNvSpPr>
          <p:nvPr/>
        </p:nvSpPr>
        <p:spPr>
          <a:xfrm>
            <a:off x="308809" y="208989"/>
            <a:ext cx="6022559" cy="1154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fontScale="92500"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Patria" pitchFamily="50" charset="0"/>
                <a:ea typeface="Noto Sans Bold"/>
                <a:cs typeface="Noto Sans Bold"/>
                <a:sym typeface="Noto Sans Bold"/>
              </a:rPr>
              <a:t>Proyecto ferroviario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691C32"/>
                </a:solidFill>
                <a:effectLst/>
                <a:uLnTx/>
                <a:uFillTx/>
                <a:latin typeface="Patria" pitchFamily="50" charset="0"/>
                <a:ea typeface="Noto Sans Bold"/>
                <a:cs typeface="Noto Sans Bold"/>
                <a:sym typeface="Noto Sans Bold"/>
              </a:rPr>
              <a:t>COLOCAR TRAMO Y/O DIRECCIÓN</a:t>
            </a:r>
            <a:endParaRPr kumimoji="0" lang="es-MX" sz="1900" b="1" i="0" u="none" strike="noStrike" kern="0" cap="none" spc="0" normalizeH="0" baseline="0" noProof="0" dirty="0">
              <a:ln>
                <a:noFill/>
              </a:ln>
              <a:solidFill>
                <a:srgbClr val="691C32"/>
              </a:solidFill>
              <a:effectLst/>
              <a:uLnTx/>
              <a:uFillTx/>
              <a:latin typeface="Patria" pitchFamily="50" charset="0"/>
              <a:ea typeface="Noto Sans Bold"/>
              <a:cs typeface="Noto Sans Bold"/>
              <a:sym typeface="Noto Sans Bold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DD899"/>
                </a:solidFill>
                <a:latin typeface="Noto Sans Bold"/>
                <a:ea typeface="Noto Sans Bold"/>
                <a:cs typeface="Noto Sans Bold"/>
                <a:sym typeface="Noto Sans Bold"/>
              </a:defRPr>
            </a:pPr>
            <a:r>
              <a:rPr kumimoji="0" lang="es-MX" sz="2100" b="0" i="0" u="none" strike="noStrike" kern="0" cap="none" spc="0" normalizeH="0" baseline="0" noProof="0" dirty="0">
                <a:ln>
                  <a:noFill/>
                </a:ln>
                <a:solidFill>
                  <a:srgbClr val="10312B"/>
                </a:solidFill>
                <a:effectLst/>
                <a:uLnTx/>
                <a:uFillTx/>
                <a:latin typeface="Patria" pitchFamily="50" charset="0"/>
                <a:ea typeface="Noto Sans Bold"/>
                <a:cs typeface="Noto Sans Bold"/>
                <a:sym typeface="Noto Sans Bold"/>
              </a:rPr>
              <a:t>Liberación del derecho de vía </a:t>
            </a:r>
            <a:r>
              <a:rPr kumimoji="0" lang="es-MX" sz="2100" b="0" i="0" u="none" strike="noStrike" kern="0" cap="none" spc="0" normalizeH="0" baseline="0" noProof="0" dirty="0">
                <a:ln>
                  <a:noFill/>
                </a:ln>
                <a:solidFill>
                  <a:srgbClr val="691C32"/>
                </a:solidFill>
                <a:effectLst/>
                <a:uLnTx/>
                <a:uFillTx/>
                <a:latin typeface="Patria" pitchFamily="50" charset="0"/>
                <a:ea typeface="Noto Sans Bold"/>
                <a:cs typeface="Noto Sans Bold"/>
                <a:sym typeface="Noto Sans Bold"/>
              </a:rPr>
              <a:t>(Propiedad Social)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9D6664B-EC42-1747-9674-C826FD2FE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85289"/>
              </p:ext>
            </p:extLst>
          </p:nvPr>
        </p:nvGraphicFramePr>
        <p:xfrm>
          <a:off x="904461" y="1388557"/>
          <a:ext cx="10139681" cy="20404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9681">
                  <a:extLst>
                    <a:ext uri="{9D8B030D-6E8A-4147-A177-3AD203B41FA5}">
                      <a16:colId xmlns:a16="http://schemas.microsoft.com/office/drawing/2014/main" val="849053377"/>
                    </a:ext>
                  </a:extLst>
                </a:gridCol>
              </a:tblGrid>
              <a:tr h="333563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 REALIZADAS</a:t>
                      </a:r>
                      <a:r>
                        <a:rPr lang="es-MX" sz="1400" b="1" baseline="0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EN CAMPO Y/O GABINETE, PROPIEDAD PRIVADA</a:t>
                      </a:r>
                      <a:endParaRPr lang="es-MX" sz="1400" b="1" dirty="0">
                        <a:solidFill>
                          <a:srgbClr val="E7D395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51435" marR="51435" anchor="ctr">
                    <a:solidFill>
                      <a:srgbClr val="245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88383"/>
                  </a:ext>
                </a:extLst>
              </a:tr>
              <a:tr h="1594235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Trabajo de campo: 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152E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Actividades:</a:t>
                      </a:r>
                      <a:endParaRPr kumimoji="0" lang="es-MX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Arial"/>
                      </a:endParaRPr>
                    </a:p>
                    <a:p>
                      <a:endParaRPr kumimoji="0" lang="es-MX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Arial"/>
                      </a:endParaRPr>
                    </a:p>
                    <a:p>
                      <a:endParaRPr kumimoji="0" lang="es-MX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Arial"/>
                      </a:endParaRPr>
                    </a:p>
                    <a:p>
                      <a:endParaRPr kumimoji="0" lang="es-MX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Arial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Calibri"/>
                      </a:endParaRPr>
                    </a:p>
                  </a:txBody>
                  <a:tcPr marL="16073" marR="1607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2697BFF-BFDA-B92D-042B-9D5AFB62C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71937"/>
              </p:ext>
            </p:extLst>
          </p:nvPr>
        </p:nvGraphicFramePr>
        <p:xfrm>
          <a:off x="904461" y="3413760"/>
          <a:ext cx="10149021" cy="2300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9021">
                  <a:extLst>
                    <a:ext uri="{9D8B030D-6E8A-4147-A177-3AD203B41FA5}">
                      <a16:colId xmlns:a16="http://schemas.microsoft.com/office/drawing/2014/main" val="84905337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 PROGRAMADAS PARA LA QUINCENA DEL</a:t>
                      </a:r>
                      <a:r>
                        <a:rPr lang="es-MX" sz="1400" b="1" baseline="0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16</a:t>
                      </a:r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AL 30 DE</a:t>
                      </a:r>
                      <a:r>
                        <a:rPr lang="es-MX" sz="1400" b="1" baseline="0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MAYO</a:t>
                      </a:r>
                      <a:r>
                        <a:rPr lang="es-MX" sz="1400" b="1" dirty="0">
                          <a:solidFill>
                            <a:srgbClr val="E7D395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EN PROPIEDAD PRIVADA</a:t>
                      </a:r>
                    </a:p>
                  </a:txBody>
                  <a:tcPr marL="51435" marR="51435" anchor="ctr">
                    <a:solidFill>
                      <a:srgbClr val="245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88383"/>
                  </a:ext>
                </a:extLst>
              </a:tr>
              <a:tr h="1958041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Trabajo de </a:t>
                      </a:r>
                      <a:r>
                        <a:rPr kumimoji="0" lang="es-MX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gabinete: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152E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E152E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Actividades:</a:t>
                      </a:r>
                      <a:endParaRPr kumimoji="0" lang="es-MX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  <a:sym typeface="Calibri"/>
                      </a:endParaRPr>
                    </a:p>
                  </a:txBody>
                  <a:tcPr marL="16073" marR="16073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54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159</Words>
  <Application>Microsoft Office PowerPoint</Application>
  <PresentationFormat>Panorámica</PresentationFormat>
  <Paragraphs>39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Noto Sans Medium</vt:lpstr>
      <vt:lpstr>Noto Sans</vt:lpstr>
      <vt:lpstr>Calibri</vt:lpstr>
      <vt:lpstr>Patria</vt:lpstr>
      <vt:lpstr>Arial</vt:lpstr>
      <vt:lpstr>Noto Sans SemiBold</vt:lpstr>
      <vt:lpstr>Tema de Office</vt:lpstr>
      <vt:lpstr>Reporte de actividades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EDGAR YOLTIC DÍAZ DÍAZ</cp:lastModifiedBy>
  <cp:revision>25</cp:revision>
  <dcterms:created xsi:type="dcterms:W3CDTF">2018-12-04T03:27:02Z</dcterms:created>
  <dcterms:modified xsi:type="dcterms:W3CDTF">2026-05-27T16:20:09Z</dcterms:modified>
</cp:coreProperties>
</file>